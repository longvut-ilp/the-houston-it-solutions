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3B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297680"/>
            <a:ext cx="3291840" cy="3291840"/>
          </a:xfrm>
          <a:prstGeom prst="ellipse">
            <a:avLst/>
          </a:prstGeom>
          <a:solidFill>
            <a:srgbClr val="3B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868680"/>
            <a:ext cx="841248" cy="8412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8412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Polished POS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C4B5FD"/>
                </a:solidFill>
                <a:latin typeface="Cambria"/>
              </a:rPr>
              <a:t>Training &amp; 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DD6FE"/>
                </a:solidFill>
                <a:latin typeface="Calibri"/>
              </a:rPr>
              <a:t>The salon POS that runs booking, checkout, commission, payroll and tips — with built-in W-2 vs 1099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0749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657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21B6"/>
                </a:solidFill>
                <a:latin typeface="Calibri"/>
              </a:rPr>
              <a:t>For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50749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21B6"/>
                </a:solidFill>
                <a:latin typeface="Calibri"/>
              </a:rPr>
              <a:t>For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5074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50657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5B21B6"/>
                </a:solidFill>
                <a:latin typeface="Calibri"/>
              </a:rPr>
              <a:t>For new salon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8FD8"/>
                </a:solidFill>
                <a:latin typeface="Calibri"/>
              </a:rPr>
              <a:t>Houston IT Solutions  ·  thehoustonitsolutions.com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F2937"/>
                </a:solidFill>
                <a:latin typeface="Cambria"/>
              </a:rPr>
              <a:t>What is Polished POS?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One cloud app for the whole salon day — booking turns, checking out clients, and automatically tracking every technician's pay. It handles the part most POS systems get wrong: paying commission employees and booth renters correctly and legally.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7889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752344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Book &amp; track turns   </a:t>
            </a:r>
            <a:r>
              <a:rPr sz="1200" b="0">
                <a:solidFill>
                  <a:srgbClr val="6B7280"/>
                </a:solidFill>
                <a:latin typeface="Calibri"/>
              </a:rPr>
              <a:t>Each booking links to a tech so pay tracks itself.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557015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57015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Calibri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20439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Checkout + commission   </a:t>
            </a:r>
            <a:r>
              <a:rPr sz="1200" b="0">
                <a:solidFill>
                  <a:srgbClr val="6B7280"/>
                </a:solidFill>
                <a:latin typeface="Calibri"/>
              </a:rPr>
              <a:t>Card/cash, tips, product — commission previewed live.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325112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2511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Calibri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288536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Payroll &amp; tips   </a:t>
            </a:r>
            <a:r>
              <a:rPr sz="1200" b="0">
                <a:solidFill>
                  <a:srgbClr val="6B7280"/>
                </a:solidFill>
                <a:latin typeface="Calibri"/>
              </a:rPr>
              <a:t>Min-wage + overtime safe; tip pool split by hours.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093207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93207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7C3AED"/>
                </a:solidFill>
                <a:latin typeface="Calibri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056631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Multi-salon ready   </a:t>
            </a:r>
            <a:r>
              <a:rPr sz="1200" b="0">
                <a:solidFill>
                  <a:srgbClr val="6B7280"/>
                </a:solidFill>
                <a:latin typeface="Calibri"/>
              </a:rPr>
              <a:t>Each business is fully isolated on one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325880"/>
            <a:ext cx="3977639" cy="475488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B21B6"/>
                </a:solidFill>
                <a:latin typeface="Cambria"/>
              </a:rPr>
              <a:t>At a glance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240280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24028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User roles — Owner, Admin, 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319272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31927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Pay models — W-2 &amp; 1099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398264"/>
            <a:ext cx="10972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398264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Login, the whole salon shares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F2937"/>
                </a:solidFill>
                <a:latin typeface="Cambria"/>
              </a:rPr>
              <a:t>The big idea: W-2 vs 1099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Every technician is set up as one of two types. This one switch changes the entire pay and compliance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4231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1401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W-2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Salon pays a commission split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657600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Earns a % of services &amp; retail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4133088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40416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Hours are tracked (clock in/out)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4608576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51713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Protected by minimum wage + overtime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5084064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49926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Paid through payroll export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5559552"/>
            <a:ext cx="146304" cy="1463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54681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Eligible for the tip pool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05740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24231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41401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DB2776"/>
                </a:solidFill>
                <a:latin typeface="Calibri"/>
              </a:rPr>
              <a:t>1099 RENTER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Independent — rents a chair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3657600"/>
            <a:ext cx="146304" cy="146304"/>
          </a:xfrm>
          <a:prstGeom prst="ellipse">
            <a:avLst/>
          </a:prstGeom>
          <a:solidFill>
            <a:srgbClr val="DB2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Pays flat chair rent (weekly/monthly)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133088"/>
            <a:ext cx="146304" cy="146304"/>
          </a:xfrm>
          <a:prstGeom prst="ellipse">
            <a:avLst/>
          </a:prstGeom>
          <a:solidFill>
            <a:srgbClr val="DB2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404164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Keeps service revenue, instant payout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608576"/>
            <a:ext cx="146304" cy="146304"/>
          </a:xfrm>
          <a:prstGeom prst="ellipse">
            <a:avLst/>
          </a:prstGeom>
          <a:solidFill>
            <a:srgbClr val="DB2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451713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No wage hours, no overtime rules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5084064"/>
            <a:ext cx="146304" cy="146304"/>
          </a:xfrm>
          <a:prstGeom prst="ellipse">
            <a:avLst/>
          </a:prstGeom>
          <a:solidFill>
            <a:srgbClr val="DB2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49926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Not on payroll — a contractor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5559552"/>
            <a:ext cx="146304" cy="146304"/>
          </a:xfrm>
          <a:prstGeom prst="ellipse">
            <a:avLst/>
          </a:prstGeom>
          <a:solidFill>
            <a:srgbClr val="DB2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546811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Excluded from tip pool (by law)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F2937"/>
                </a:solidFill>
                <a:latin typeface="Cambria"/>
              </a:rPr>
              <a:t>Who uses it — three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Access is set by role. People only see what they need.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46887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7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603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Cambria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39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520439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Full access to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87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0873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Salon settings &amp; pay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54296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654296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Add staff &amp; give logins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221223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5221223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Payroll, tips, revenue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3128" y="210312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18888" y="2468879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246887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25603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Cambria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520439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520439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Day-to-day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4087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40873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Add staff &amp; set comp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654296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4654296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Run checkout &amp;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5221223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1496" y="5221223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Reports (no ownership-only)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5" y="2103120"/>
            <a:ext cx="3520440" cy="40233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31936" y="2468879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1936" y="246887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256032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1F2937"/>
                </a:solidFill>
                <a:latin typeface="Cambria"/>
              </a:rPr>
              <a:t>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7655" y="3520439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Calibr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3520439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Their own work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5" y="4087368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Calibr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24544" y="4087368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See their turns &amp; checkout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77655" y="4654296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Calibri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4544" y="4654296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Clock in / out (if W-2)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77655" y="5221223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Calibri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5221223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74151"/>
                </a:solidFill>
                <a:latin typeface="Calibri"/>
              </a:rPr>
              <a:t>Own earnings — not others' pay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F2937"/>
                </a:solidFill>
                <a:latin typeface="Cambria"/>
              </a:rPr>
              <a:t>Getting started: create your salon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A new business signs itself up — no setup call needed.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Open the app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Go to /app.html and choose the Create salon tab.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Enter your details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Salon name, your name, email, a password, timezone.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You're in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A private salon is created and you're signed in as Owner.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5669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libri"/>
              </a:rPr>
              <a:t>Add your team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Land on the welcome screen with the Add employee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417320"/>
            <a:ext cx="3977639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19" y="17830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77393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020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Create your salon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514600"/>
            <a:ext cx="3154679" cy="384048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2560320"/>
            <a:ext cx="1513331" cy="292608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551176"/>
            <a:ext cx="15316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Calibri"/>
              </a:rPr>
              <a:t>Sign 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4059" y="2560320"/>
            <a:ext cx="1513331" cy="2926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24059" y="2551176"/>
            <a:ext cx="15316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7C3AED"/>
                </a:solidFill>
                <a:latin typeface="Calibri"/>
              </a:rPr>
              <a:t>Create salon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108960"/>
            <a:ext cx="3154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Salon 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328416"/>
            <a:ext cx="3154679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3319272"/>
            <a:ext cx="297179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Polished Nail 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3712464"/>
            <a:ext cx="3154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Your name (owner)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931920"/>
            <a:ext cx="3154679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922776"/>
            <a:ext cx="297179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Jane Tran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315968"/>
            <a:ext cx="3154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Email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4535424"/>
            <a:ext cx="3154679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4526280"/>
            <a:ext cx="297179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you@yoursalon.com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919472"/>
            <a:ext cx="31546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Password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19" y="5138928"/>
            <a:ext cx="3154679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9" y="5129784"/>
            <a:ext cx="297179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••••••••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5541264"/>
            <a:ext cx="3154679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9" y="5532120"/>
            <a:ext cx="31546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Create salon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1F2937"/>
                </a:solidFill>
                <a:latin typeface="Cambria"/>
              </a:rPr>
              <a:t>Signing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309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Everyone in the salon uses the same app at /app.html and signs in with their own email and password. Their role decides what they can do once inside.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3099816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01752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Owners &amp; admins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See all tabs incl. Owner &amp; Admin Config.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3776472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694176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Technicians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See Turns, Checkout and their own Dashboard.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45312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370832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Forgot a password?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An owner or admin can reset it from Admin Config.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512978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047488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Email is not case-sensitive — </a:t>
            </a:r>
            <a:r>
              <a:rPr sz="1250" b="0">
                <a:solidFill>
                  <a:srgbClr val="6B7280"/>
                </a:solidFill>
                <a:latin typeface="Calibri"/>
              </a:rPr>
              <a:t>JANE@x.com and jane@x.com both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54480"/>
            <a:ext cx="374903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96596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956816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65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03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Sign in to your salon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788920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008376"/>
            <a:ext cx="292607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99232"/>
            <a:ext cx="27431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owner@yoursalon.com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502152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Password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721608"/>
            <a:ext cx="2926079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712464"/>
            <a:ext cx="27431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••••••••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4343400"/>
            <a:ext cx="2926079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334256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Sign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Cambria"/>
              </a:rPr>
              <a:t>First-time setup: salon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Set these once in Admin Config. They drive every checkout and payroll calculation.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4008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0665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756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0665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alibri"/>
              </a:rPr>
              <a:t>Live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2066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64008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542032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542032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852928"/>
            <a:ext cx="914399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64008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1363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Salon settings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3108960"/>
            <a:ext cx="1371600" cy="32918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09981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Save settings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19" y="3685032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79" y="3776472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Card fee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79" y="3995928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2.9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56560" y="3685032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3720" y="3776472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Card fee 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3720" y="3995928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$0.30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3000" y="3685032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90160" y="3776472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Product cost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0160" y="3995928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19" y="4544568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79" y="4636008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Local min wage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79" y="4855464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$16/h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56560" y="4544568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3720" y="4636008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Timezone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93720" y="4855464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America/Chicago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3000" y="4544568"/>
            <a:ext cx="1767840" cy="658368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90160" y="4636008"/>
            <a:ext cx="149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Tip pooling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0160" y="4855464"/>
            <a:ext cx="149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On</a:t>
            </a:r>
          </a:p>
        </p:txBody>
      </p:sp>
      <p:sp>
        <p:nvSpPr>
          <p:cNvPr id="41" name="Oval 40"/>
          <p:cNvSpPr/>
          <p:nvPr/>
        </p:nvSpPr>
        <p:spPr>
          <a:xfrm>
            <a:off x="7360920" y="219456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2093976"/>
            <a:ext cx="4114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Card fee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% + fixed the processor charges — netted out before commission.</a:t>
            </a:r>
          </a:p>
        </p:txBody>
      </p:sp>
      <p:sp>
        <p:nvSpPr>
          <p:cNvPr id="43" name="Oval 42"/>
          <p:cNvSpPr/>
          <p:nvPr/>
        </p:nvSpPr>
        <p:spPr>
          <a:xfrm>
            <a:off x="7360920" y="301752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2916936"/>
            <a:ext cx="4114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Product cost %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Supplies deducted from service before commission.</a:t>
            </a:r>
          </a:p>
        </p:txBody>
      </p:sp>
      <p:sp>
        <p:nvSpPr>
          <p:cNvPr id="45" name="Oval 44"/>
          <p:cNvSpPr/>
          <p:nvPr/>
        </p:nvSpPr>
        <p:spPr>
          <a:xfrm>
            <a:off x="7360920" y="384048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3739896"/>
            <a:ext cx="4114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Local min wage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The floor W-2 staff are guaranteed per hour.</a:t>
            </a:r>
          </a:p>
        </p:txBody>
      </p:sp>
      <p:sp>
        <p:nvSpPr>
          <p:cNvPr id="47" name="Oval 46"/>
          <p:cNvSpPr/>
          <p:nvPr/>
        </p:nvSpPr>
        <p:spPr>
          <a:xfrm>
            <a:off x="7360920" y="466344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4562856"/>
            <a:ext cx="4114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Timezone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Anchors the workweek for overtime &amp; reports.</a:t>
            </a:r>
          </a:p>
        </p:txBody>
      </p:sp>
      <p:sp>
        <p:nvSpPr>
          <p:cNvPr id="49" name="Oval 48"/>
          <p:cNvSpPr/>
          <p:nvPr/>
        </p:nvSpPr>
        <p:spPr>
          <a:xfrm>
            <a:off x="7360920" y="548640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5385816"/>
            <a:ext cx="4114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Tip pooling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Pool card tips daily, split by hours (W-2 only).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Cambria"/>
              </a:rPr>
              <a:t>Adding employees &amp; logins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Owners and admins add staff right in the app — no spreadsheets, no 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4008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0665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756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0665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alibri"/>
              </a:rPr>
              <a:t>Live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2066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64008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542032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542032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852928"/>
            <a:ext cx="914399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64008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1363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Add employee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108960"/>
            <a:ext cx="1325880" cy="32918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099816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Add employee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" y="3685032"/>
            <a:ext cx="176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Full name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19" y="3904488"/>
            <a:ext cx="176784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895344"/>
            <a:ext cx="1584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Calibri"/>
              </a:rPr>
              <a:t>Mia Nguyen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6560" y="3685032"/>
            <a:ext cx="176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Email (login)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56560" y="3904488"/>
            <a:ext cx="176784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6288" y="3895344"/>
            <a:ext cx="1584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Calibri"/>
              </a:rPr>
              <a:t>mia@salon.com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00" y="3685032"/>
            <a:ext cx="176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Temp password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3000" y="3904488"/>
            <a:ext cx="176784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2728" y="3895344"/>
            <a:ext cx="1584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Calibri"/>
              </a:rPr>
              <a:t>mia123456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19" y="4462272"/>
            <a:ext cx="132588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19" y="4453128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Calibri"/>
              </a:rPr>
              <a:t>W-2 Employee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39" y="4462272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39" y="445312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Calibri"/>
              </a:rPr>
              <a:t>1099 Renter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96519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Service commission 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19" y="5184648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175504"/>
            <a:ext cx="24688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Calibri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96519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Retail commission 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5184648"/>
            <a:ext cx="265176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95928" y="5175504"/>
            <a:ext cx="24688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Calibri"/>
              </a:rPr>
              <a:t>10</a:t>
            </a:r>
          </a:p>
        </p:txBody>
      </p:sp>
      <p:sp>
        <p:nvSpPr>
          <p:cNvPr id="42" name="Oval 41"/>
          <p:cNvSpPr/>
          <p:nvPr/>
        </p:nvSpPr>
        <p:spPr>
          <a:xfrm>
            <a:off x="7315200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103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7" y="2066543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Name &amp; email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Email is their login ID.</a:t>
            </a:r>
          </a:p>
        </p:txBody>
      </p:sp>
      <p:sp>
        <p:nvSpPr>
          <p:cNvPr id="45" name="Oval 44"/>
          <p:cNvSpPr/>
          <p:nvPr/>
        </p:nvSpPr>
        <p:spPr>
          <a:xfrm>
            <a:off x="7315200" y="2889503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0" y="2889503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2852927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Pick W-2 or 1099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The form shows the right fields for each.</a:t>
            </a:r>
          </a:p>
        </p:txBody>
      </p:sp>
      <p:sp>
        <p:nvSpPr>
          <p:cNvPr id="48" name="Oval 47"/>
          <p:cNvSpPr/>
          <p:nvPr/>
        </p:nvSpPr>
        <p:spPr>
          <a:xfrm>
            <a:off x="7315200" y="3675887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3675887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639311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Set the pay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Commission % for W-2, or chair rent for 1099.</a:t>
            </a:r>
          </a:p>
        </p:txBody>
      </p:sp>
      <p:sp>
        <p:nvSpPr>
          <p:cNvPr id="51" name="Oval 50"/>
          <p:cNvSpPr/>
          <p:nvPr/>
        </p:nvSpPr>
        <p:spPr>
          <a:xfrm>
            <a:off x="7315200" y="446227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44622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425696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Give a login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Add a temp password now, or 'Set login' later.</a:t>
            </a:r>
          </a:p>
        </p:txBody>
      </p:sp>
      <p:sp>
        <p:nvSpPr>
          <p:cNvPr id="54" name="Oval 53"/>
          <p:cNvSpPr/>
          <p:nvPr/>
        </p:nvSpPr>
        <p:spPr>
          <a:xfrm>
            <a:off x="7315200" y="52486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524865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521208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Add employee — </a:t>
            </a:r>
            <a:r>
              <a:rPr sz="1100" b="0">
                <a:solidFill>
                  <a:srgbClr val="6B7280"/>
                </a:solidFill>
                <a:latin typeface="Calibri"/>
              </a:rPr>
              <a:t>They appear instantly and can start working.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Cambria"/>
              </a:rPr>
              <a:t>Daily flow — Turns (schedule)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The booking grid. Every appointment is tied to a technician, so commission tracks itself at checkout.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85800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0665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999" y="20756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4999" y="20665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alibri"/>
              </a:rPr>
              <a:t>Live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066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68580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Turns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852928"/>
            <a:ext cx="914399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542032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Checkout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542032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68580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1363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Today's Turns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599" y="3108960"/>
            <a:ext cx="1234440" cy="32918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599" y="3099816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 Add walk-in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19" y="3639312"/>
            <a:ext cx="6217920" cy="2304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19" y="3639312"/>
            <a:ext cx="822960" cy="2304288"/>
          </a:xfrm>
          <a:prstGeom prst="rect">
            <a:avLst/>
          </a:prstGeom>
          <a:solidFill>
            <a:srgbClr val="FA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7307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730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Mia Nguyen 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712464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70332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Calibri"/>
              </a:rPr>
              <a:t>W-2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19" y="4096512"/>
            <a:ext cx="621792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413308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9:00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19" y="4462272"/>
            <a:ext cx="621792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" y="44988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9:30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19" y="4828032"/>
            <a:ext cx="621792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864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10:00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19" y="5193792"/>
            <a:ext cx="621792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" y="5230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10:30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19" y="5559552"/>
            <a:ext cx="6217920" cy="731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5961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11:00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20239" y="4480560"/>
            <a:ext cx="5120640" cy="310896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44622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10:00  Maria — Gel manicure</a:t>
            </a:r>
          </a:p>
        </p:txBody>
      </p:sp>
      <p:sp>
        <p:nvSpPr>
          <p:cNvPr id="41" name="Oval 40"/>
          <p:cNvSpPr/>
          <p:nvPr/>
        </p:nvSpPr>
        <p:spPr>
          <a:xfrm>
            <a:off x="7818120" y="2286000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92440" y="218541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Book or add walk-ins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Tap a tech, drop in a turn.</a:t>
            </a:r>
          </a:p>
        </p:txBody>
      </p:sp>
      <p:sp>
        <p:nvSpPr>
          <p:cNvPr id="43" name="Oval 42"/>
          <p:cNvSpPr/>
          <p:nvPr/>
        </p:nvSpPr>
        <p:spPr>
          <a:xfrm>
            <a:off x="7818120" y="3218688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311810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Color-coded status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Booked → In chair → Checked out.</a:t>
            </a:r>
          </a:p>
        </p:txBody>
      </p:sp>
      <p:sp>
        <p:nvSpPr>
          <p:cNvPr id="45" name="Oval 44"/>
          <p:cNvSpPr/>
          <p:nvPr/>
        </p:nvSpPr>
        <p:spPr>
          <a:xfrm>
            <a:off x="7818120" y="4151376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405079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Linked to pay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No re-keying — checkout knows the tech.</a:t>
            </a:r>
          </a:p>
        </p:txBody>
      </p:sp>
      <p:sp>
        <p:nvSpPr>
          <p:cNvPr id="47" name="Oval 46"/>
          <p:cNvSpPr/>
          <p:nvPr/>
        </p:nvSpPr>
        <p:spPr>
          <a:xfrm>
            <a:off x="7818120" y="5084064"/>
            <a:ext cx="146304" cy="14630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4983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Per-tech columns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See the whole floor at a glance.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F2937"/>
                </a:solidFill>
                <a:latin typeface="Cambria"/>
              </a:rPr>
              <a:t>Daily flow — Checkout &amp;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Ring up services, retail and tips. The split is shown before you finish — no surprises, no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704088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0665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0756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0665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alibri"/>
              </a:rPr>
              <a:t>Live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2066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70408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542032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Checkout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852928"/>
            <a:ext cx="1243584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2542032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70408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1363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Checkout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3639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Sale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19" y="3959352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95020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Gel manicure (service)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95020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F2937"/>
                </a:solidFill>
                <a:latin typeface="Calibri"/>
              </a:rPr>
              <a:t>$60.00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19" y="4343400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33425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Cuticle oil (retail)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334256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F2937"/>
                </a:solidFill>
                <a:latin typeface="Calibri"/>
              </a:rPr>
              <a:t>$15.00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19" y="4727448"/>
            <a:ext cx="3291840" cy="329184"/>
          </a:xfrm>
          <a:prstGeom prst="roundRect">
            <a:avLst>
              <a:gd name="adj" fmla="val 12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71830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Card tip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718304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F2937"/>
                </a:solidFill>
                <a:latin typeface="Calibri"/>
              </a:rPr>
              <a:t>$12.00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639312"/>
            <a:ext cx="2788920" cy="219456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8039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21B6"/>
                </a:solidFill>
                <a:latin typeface="Calibri"/>
              </a:rPr>
              <a:t>Commission preview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8795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Net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18795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1F2937"/>
                </a:solidFill>
                <a:latin typeface="Calibri"/>
              </a:rPr>
              <a:t>$53.20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57200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Service commission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57200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1F2937"/>
                </a:solidFill>
                <a:latin typeface="Calibri"/>
              </a:rPr>
              <a:t>$26.60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95604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374151"/>
                </a:solidFill>
                <a:latin typeface="Calibri"/>
              </a:rPr>
              <a:t>Card tip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560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1F2937"/>
                </a:solidFill>
                <a:latin typeface="Calibri"/>
              </a:rPr>
              <a:t>$12.00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34009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  <a:latin typeface="Calibri"/>
              </a:rPr>
              <a:t>Tech take-home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34009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5B21B6"/>
                </a:solidFill>
                <a:latin typeface="Calibri"/>
              </a:rPr>
              <a:t>$38.60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971032"/>
            <a:ext cx="2788920" cy="38404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96188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Complete sale</a:t>
            </a:r>
          </a:p>
        </p:txBody>
      </p:sp>
      <p:sp>
        <p:nvSpPr>
          <p:cNvPr id="43" name="Oval 42"/>
          <p:cNvSpPr/>
          <p:nvPr/>
        </p:nvSpPr>
        <p:spPr>
          <a:xfrm>
            <a:off x="8001000" y="228600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218541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Card fee &amp; product netted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Commission is on the true net.</a:t>
            </a:r>
          </a:p>
        </p:txBody>
      </p:sp>
      <p:sp>
        <p:nvSpPr>
          <p:cNvPr id="45" name="Oval 44"/>
          <p:cNvSpPr/>
          <p:nvPr/>
        </p:nvSpPr>
        <p:spPr>
          <a:xfrm>
            <a:off x="8001000" y="32186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311810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Tips handled right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Card vs cash tracked separately.</a:t>
            </a:r>
          </a:p>
        </p:txBody>
      </p:sp>
      <p:sp>
        <p:nvSpPr>
          <p:cNvPr id="47" name="Oval 46"/>
          <p:cNvSpPr/>
          <p:nvPr/>
        </p:nvSpPr>
        <p:spPr>
          <a:xfrm>
            <a:off x="8001000" y="4151376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405079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1099 = instant payout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Renters get paid on the spot.</a:t>
            </a:r>
          </a:p>
        </p:txBody>
      </p:sp>
      <p:sp>
        <p:nvSpPr>
          <p:cNvPr id="49" name="Oval 48"/>
          <p:cNvSpPr/>
          <p:nvPr/>
        </p:nvSpPr>
        <p:spPr>
          <a:xfrm>
            <a:off x="8001000" y="508406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983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Every sale is a ticket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Locked-in record for payroll.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Cambria"/>
              </a:rPr>
              <a:t>Tech Dashboard &amp; time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Each technician's home base. They see their own day and earnings — and nobody else's pay.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19" y="2441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323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B21B6"/>
                </a:solidFill>
                <a:latin typeface="Calibri"/>
              </a:rPr>
              <a:t>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803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Calibri"/>
              </a:rPr>
              <a:t>On the 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1546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Cambria"/>
              </a:rPr>
              <a:t>2h 45m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74903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W-2 staff tap Clock in / Clock out — hours feed payroll &amp; overtime.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441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4323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B21B6"/>
                </a:solidFill>
                <a:latin typeface="Calibri"/>
              </a:rPr>
              <a:t>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Calibri"/>
              </a:rPr>
              <a:t>Take-home so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Cambria"/>
              </a:rPr>
              <a:t>$184.60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74903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Live total of commission + tips from completed tickets.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48840"/>
            <a:ext cx="352044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2441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43230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5B21B6"/>
                </a:solidFill>
                <a:latin typeface="Calibri"/>
              </a:rPr>
              <a:t>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803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6B7280"/>
                </a:solidFill>
                <a:latin typeface="Calibri"/>
              </a:rPr>
              <a:t>Clients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1546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7C3AED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749039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Calibri"/>
              </a:rPr>
              <a:t>Completed services today, with the next turn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83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21B6"/>
                </a:solidFill>
                <a:latin typeface="Cambria"/>
              </a:rPr>
              <a:t>Privacy by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9496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Technicians only see their own turns, tickets and earnings. Pay rates and other staff's numbers are hidden unless you're an Owner or Admin.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1F2937"/>
                </a:solidFill>
                <a:latin typeface="Cambria"/>
              </a:rPr>
              <a:t>Owner — revenue, payroll &amp;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The money view. Owners review the day, then commit payroll and tips — which locks the period for clean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94944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299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Polished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" y="2066544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39" y="207568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39" y="20665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0B981"/>
                </a:solidFill>
                <a:latin typeface="Calibri"/>
              </a:rPr>
              <a:t>Live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1" y="206654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6B7280"/>
                </a:solidFill>
                <a:latin typeface="Calibri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87168"/>
            <a:ext cx="694944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542032"/>
            <a:ext cx="13807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542032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Calibri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2852928"/>
            <a:ext cx="914399" cy="228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4203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07792"/>
            <a:ext cx="694944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31363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mbria"/>
              </a:rPr>
              <a:t>Owner — revenue &amp; 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19" y="3639312"/>
            <a:ext cx="1474469" cy="868680"/>
          </a:xfrm>
          <a:prstGeom prst="roundRect">
            <a:avLst>
              <a:gd name="adj" fmla="val 10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749040"/>
            <a:ext cx="12915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Gross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86784"/>
            <a:ext cx="129158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mbria"/>
              </a:rPr>
              <a:t>$1,420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71749" y="3639312"/>
            <a:ext cx="1474469" cy="868680"/>
          </a:xfrm>
          <a:prstGeom prst="roundRect">
            <a:avLst>
              <a:gd name="adj" fmla="val 10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3189" y="3749040"/>
            <a:ext cx="12915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Commission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3189" y="3986784"/>
            <a:ext cx="129158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mbria"/>
              </a:rPr>
              <a:t>$612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3379" y="3639312"/>
            <a:ext cx="1474469" cy="868680"/>
          </a:xfrm>
          <a:prstGeom prst="roundRect">
            <a:avLst>
              <a:gd name="adj" fmla="val 10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4819" y="3749040"/>
            <a:ext cx="12915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Tips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4819" y="3986784"/>
            <a:ext cx="129158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mbria"/>
              </a:rPr>
              <a:t>$188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95009" y="3639312"/>
            <a:ext cx="1474469" cy="868680"/>
          </a:xfrm>
          <a:prstGeom prst="roundRect">
            <a:avLst>
              <a:gd name="adj" fmla="val 10000"/>
            </a:avLst>
          </a:prstGeom>
          <a:solidFill>
            <a:srgbClr val="FAF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6449" y="3749040"/>
            <a:ext cx="129158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Rent due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6449" y="3986784"/>
            <a:ext cx="129158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Cambria"/>
              </a:rPr>
              <a:t>$200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19" y="4736592"/>
            <a:ext cx="1828800" cy="420624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19" y="472744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Commit payroll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4736592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Locks the workweek &amp; writes pay lines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19" y="5303520"/>
            <a:ext cx="1828800" cy="4206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19" y="5294376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7C3AED"/>
                </a:solidFill>
                <a:latin typeface="Calibri"/>
              </a:rPr>
              <a:t>Finalize tip 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5303520"/>
            <a:ext cx="3931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Calibri"/>
              </a:rPr>
              <a:t>Splits card tips by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" y="5971032"/>
            <a:ext cx="6309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74151"/>
                </a:solidFill>
                <a:latin typeface="Calibri"/>
              </a:rPr>
              <a:t>Export payroll CSV  →  hand to your payroll provider</a:t>
            </a:r>
          </a:p>
        </p:txBody>
      </p:sp>
      <p:sp>
        <p:nvSpPr>
          <p:cNvPr id="40" name="Oval 39"/>
          <p:cNvSpPr/>
          <p:nvPr/>
        </p:nvSpPr>
        <p:spPr>
          <a:xfrm>
            <a:off x="7909560" y="2286000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79" y="2185416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Live revenue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Gross, commission, tips, rent at a glance.</a:t>
            </a:r>
          </a:p>
        </p:txBody>
      </p:sp>
      <p:sp>
        <p:nvSpPr>
          <p:cNvPr id="42" name="Oval 41"/>
          <p:cNvSpPr/>
          <p:nvPr/>
        </p:nvSpPr>
        <p:spPr>
          <a:xfrm>
            <a:off x="7909560" y="3218688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3118104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Commit payroll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Locks the workweek so numbers can't drift.</a:t>
            </a:r>
          </a:p>
        </p:txBody>
      </p:sp>
      <p:sp>
        <p:nvSpPr>
          <p:cNvPr id="44" name="Oval 43"/>
          <p:cNvSpPr/>
          <p:nvPr/>
        </p:nvSpPr>
        <p:spPr>
          <a:xfrm>
            <a:off x="7909560" y="4151376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79" y="4050792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Tip pool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Split fairly by hours worked (W-2).</a:t>
            </a:r>
          </a:p>
        </p:txBody>
      </p:sp>
      <p:sp>
        <p:nvSpPr>
          <p:cNvPr id="46" name="Oval 45"/>
          <p:cNvSpPr/>
          <p:nvPr/>
        </p:nvSpPr>
        <p:spPr>
          <a:xfrm>
            <a:off x="7909560" y="5084064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498348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CSV export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Drop straight into your payroll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Built-in payroll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Calibri"/>
              </a:rPr>
              <a:t>The hard, legal parts are handled automatically for W-2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3B1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5146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50545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Minimum-wage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DC3F0"/>
                </a:solidFill>
                <a:latin typeface="Calibri"/>
              </a:rPr>
              <a:t>If commission falls below local minimum wage for the hours worked, the system tops it up to the floor.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21945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3B1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5146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250545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5603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Overtime, the right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24612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DC3F0"/>
                </a:solidFill>
                <a:latin typeface="Calibri"/>
              </a:rPr>
              <a:t>Over 40 hours triggers half-time overtime on the regular rate — calculated, not guessed.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3B1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19" y="475487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474573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8006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Fair tip pooling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864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DC3F0"/>
                </a:solidFill>
                <a:latin typeface="Calibri"/>
              </a:rPr>
              <a:t>Card tips pool daily and split by hours worked. 1099 renters &amp; owners are excluded by law.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443484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3B1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47688" y="4754879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74573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48006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Locked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54864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DC3F0"/>
                </a:solidFill>
                <a:latin typeface="Calibri"/>
              </a:rPr>
              <a:t>Committed payroll and tickets are append-only — corrections add entries, history never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937"/>
                </a:solidFill>
                <a:latin typeface="Cambria"/>
              </a:rPr>
              <a:t>One platform, many salons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Every business that signs up gets its own private, isolated salon. Perfect for growing to many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2788920"/>
            <a:ext cx="2743200" cy="1280160"/>
          </a:xfrm>
          <a:prstGeom prst="roundRect">
            <a:avLst>
              <a:gd name="adj" fmla="val 10000"/>
            </a:avLst>
          </a:prstGeom>
          <a:solidFill>
            <a:srgbClr val="2E1065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880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Polished 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31012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4B5FD"/>
                </a:solidFill>
                <a:latin typeface="Calibri"/>
              </a:rPr>
              <a:t>One secure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mbria"/>
              </a:rPr>
              <a:t>Polished Nail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Houston, W-2 + 1099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mbria"/>
              </a:rPr>
              <a:t>Glow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Dallas, all W-2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3017520" cy="10058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E5E7EB"/>
            </a:solidFill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Cambria"/>
              </a:rPr>
              <a:t>Lux Nails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Austin, booth renters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1965960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745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Isolated data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Salons never see each other's records.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2990088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898648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Self-serve signup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New clients onboard themselves.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0" y="4014215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922776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Same features for all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Every salon gets the full toolset.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5038344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4946904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F2937"/>
                </a:solidFill>
                <a:latin typeface="Calibri"/>
              </a:rPr>
              <a:t>Scales with you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Add clients without new installs.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2937"/>
                </a:solidFill>
                <a:latin typeface="Cambria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Who does what — a one-glance cheat sheet.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72800" cy="4572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920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77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Create salon / sign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377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834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Salon settings &amp;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834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34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34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291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Add staff &amp; give logins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291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91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91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74903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Book turns / walk-ins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74903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74903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4903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206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Run checkout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4206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206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2062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663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Clock in /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663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663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6634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 (W-2)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120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Commit payroll &amp; tips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120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120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1206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solidFill>
            <a:srgbClr val="FA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577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See others' pay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5577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577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57784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2377440"/>
            <a:ext cx="1097280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3B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023360"/>
            <a:ext cx="3657600" cy="3657600"/>
          </a:xfrm>
          <a:prstGeom prst="ellipse">
            <a:avLst/>
          </a:prstGeom>
          <a:solidFill>
            <a:srgbClr val="3B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280160"/>
            <a:ext cx="822960" cy="8229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  <a:effectLst>
            <a:outerShdw blurRad="90000" dist="30000" dir="5400000" rotWithShape="0">
              <a:srgbClr val="9C8FB8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You're ready to run the salon.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118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DD6FE"/>
                </a:solidFill>
                <a:latin typeface="Calibri"/>
              </a:rPr>
              <a:t>Sign in, set up your team, and let the system handle commission, payroll and tips.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466344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6542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5B21B6"/>
                </a:solidFill>
                <a:latin typeface="Calibri"/>
              </a:rPr>
              <a:t>App:  /app.html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66344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4654296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5B21B6"/>
                </a:solidFill>
                <a:latin typeface="Calibri"/>
              </a:rPr>
              <a:t>thehoustonitsolutions.com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8FD8"/>
                </a:solidFill>
                <a:latin typeface="Calibri"/>
              </a:rPr>
              <a:t>Questions? Your Houston IT Solutions team is here to help.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